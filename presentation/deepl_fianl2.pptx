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60" r:id="rId1"/>
  </p:sldMasterIdLst>
  <p:notesMasterIdLst>
    <p:notesMasterId r:id="rId11"/>
  </p:notesMasterIdLst>
  <p:sldIdLst>
    <p:sldId id="258" r:id="rId2"/>
    <p:sldId id="269" r:id="rId3"/>
    <p:sldId id="270" r:id="rId4"/>
    <p:sldId id="271" r:id="rId5"/>
    <p:sldId id="272" r:id="rId6"/>
    <p:sldId id="273" r:id="rId7"/>
    <p:sldId id="274" r:id="rId8"/>
    <p:sldId id="276" r:id="rId9"/>
    <p:sldId id="277" r:id="rId10"/>
  </p:sldIdLst>
  <p:sldSz cx="11879263" cy="6840538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Gotham" panose="020B0604020202020204" charset="0"/>
      <p:regular r:id="rId16"/>
      <p:bold r:id="rId17"/>
      <p:italic r:id="rId18"/>
      <p:boldItalic r:id="rId19"/>
    </p:embeddedFont>
  </p:embeddedFontLst>
  <p:defaultTextStyle>
    <a:defPPr>
      <a:defRPr lang="ru-RU"/>
    </a:defPPr>
    <a:lvl1pPr marL="0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1pPr>
    <a:lvl2pPr marL="449245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2pPr>
    <a:lvl3pPr marL="898489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3pPr>
    <a:lvl4pPr marL="1347734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4pPr>
    <a:lvl5pPr marL="1796979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5pPr>
    <a:lvl6pPr marL="2246224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6pPr>
    <a:lvl7pPr marL="2695468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7pPr>
    <a:lvl8pPr marL="3144713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8pPr>
    <a:lvl9pPr marL="3593958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00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76" autoAdjust="0"/>
    <p:restoredTop sz="94660"/>
  </p:normalViewPr>
  <p:slideViewPr>
    <p:cSldViewPr snapToGrid="0">
      <p:cViewPr>
        <p:scale>
          <a:sx n="75" d="100"/>
          <a:sy n="75" d="100"/>
        </p:scale>
        <p:origin x="802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D44758-6D80-4509-B1FD-D8EDBB70E5B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749300" y="1143000"/>
            <a:ext cx="5359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888AA9-94DA-4431-918D-4C2FB21FD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5402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1pPr>
    <a:lvl2pPr marL="449245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2pPr>
    <a:lvl3pPr marL="898489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3pPr>
    <a:lvl4pPr marL="1347734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4pPr>
    <a:lvl5pPr marL="1796979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5pPr>
    <a:lvl6pPr marL="2246224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6pPr>
    <a:lvl7pPr marL="2695468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7pPr>
    <a:lvl8pPr marL="3144713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8pPr>
    <a:lvl9pPr marL="3593958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743201" y="4267200"/>
            <a:ext cx="7528560" cy="75782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750821" y="5110480"/>
            <a:ext cx="6957487" cy="608912"/>
          </a:xfrm>
        </p:spPr>
        <p:txBody>
          <a:bodyPr>
            <a:noAutofit/>
          </a:bodyPr>
          <a:lstStyle>
            <a:lvl1pPr marL="0" indent="0" algn="l">
              <a:buNone/>
              <a:defRPr sz="2000"/>
            </a:lvl1pPr>
            <a:lvl2pPr marL="445450" indent="0" algn="ctr">
              <a:buNone/>
              <a:defRPr sz="1949"/>
            </a:lvl2pPr>
            <a:lvl3pPr marL="890900" indent="0" algn="ctr">
              <a:buNone/>
              <a:defRPr sz="1754"/>
            </a:lvl3pPr>
            <a:lvl4pPr marL="1336350" indent="0" algn="ctr">
              <a:buNone/>
              <a:defRPr sz="1559"/>
            </a:lvl4pPr>
            <a:lvl5pPr marL="1781800" indent="0" algn="ctr">
              <a:buNone/>
              <a:defRPr sz="1559"/>
            </a:lvl5pPr>
            <a:lvl6pPr marL="2227250" indent="0" algn="ctr">
              <a:buNone/>
              <a:defRPr sz="1559"/>
            </a:lvl6pPr>
            <a:lvl7pPr marL="2672700" indent="0" algn="ctr">
              <a:buNone/>
              <a:defRPr sz="1559"/>
            </a:lvl7pPr>
            <a:lvl8pPr marL="3118150" indent="0" algn="ctr">
              <a:buNone/>
              <a:defRPr sz="1559"/>
            </a:lvl8pPr>
            <a:lvl9pPr marL="3563600" indent="0" algn="ctr">
              <a:buNone/>
              <a:defRPr sz="1559"/>
            </a:lvl9pPr>
          </a:lstStyle>
          <a:p>
            <a:r>
              <a:rPr lang="ru-RU" dirty="0"/>
              <a:t>НАЗВАНИЕ ПОДЗАГОЛОВКА ПРЕЗЕНТАЦИИ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263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5C004-5CD4-4C2F-BE0D-45D3A80F2641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690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2" y="1705385"/>
            <a:ext cx="10245864" cy="2845473"/>
          </a:xfrm>
        </p:spPr>
        <p:txBody>
          <a:bodyPr anchor="b"/>
          <a:lstStyle>
            <a:lvl1pPr>
              <a:defRPr sz="584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2" y="4577778"/>
            <a:ext cx="10245864" cy="1496367"/>
          </a:xfrm>
        </p:spPr>
        <p:txBody>
          <a:bodyPr/>
          <a:lstStyle>
            <a:lvl1pPr marL="0" indent="0">
              <a:buNone/>
              <a:defRPr sz="2338">
                <a:solidFill>
                  <a:schemeClr val="tx1">
                    <a:tint val="75000"/>
                  </a:schemeClr>
                </a:solidFill>
              </a:defRPr>
            </a:lvl1pPr>
            <a:lvl2pPr marL="445450" indent="0">
              <a:buNone/>
              <a:defRPr sz="1949">
                <a:solidFill>
                  <a:schemeClr val="tx1">
                    <a:tint val="75000"/>
                  </a:schemeClr>
                </a:solidFill>
              </a:defRPr>
            </a:lvl2pPr>
            <a:lvl3pPr marL="890900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3pPr>
            <a:lvl4pPr marL="13363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4pPr>
            <a:lvl5pPr marL="17818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5pPr>
            <a:lvl6pPr marL="22272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6pPr>
            <a:lvl7pPr marL="26727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7pPr>
            <a:lvl8pPr marL="31181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8pPr>
            <a:lvl9pPr marL="35636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B862-C489-4421-A959-26B4546E8111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691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1820976"/>
            <a:ext cx="5048687" cy="43402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1820976"/>
            <a:ext cx="5048687" cy="43402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770C-0BA8-4BEF-A800-43AD259DBADB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148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364196"/>
            <a:ext cx="10245864" cy="132218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7" y="1676882"/>
            <a:ext cx="5025485" cy="821814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7" y="2498697"/>
            <a:ext cx="5025485" cy="36752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7" y="1676882"/>
            <a:ext cx="5050234" cy="821814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7" y="2498697"/>
            <a:ext cx="5050234" cy="36752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8121A-E5FF-4E1B-989F-A951C24D8EF9}" type="datetime1">
              <a:rPr lang="ru-RU" smtClean="0"/>
              <a:t>21.05.2026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01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E3E63-37C4-46D0-9DC6-3287C4280D41}" type="datetime1">
              <a:rPr lang="ru-RU" smtClean="0"/>
              <a:t>21.05.2026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99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572DF-252E-4B22-A0DB-8839B02EB848}" type="datetime1">
              <a:rPr lang="ru-RU" smtClean="0"/>
              <a:t>21.05.2026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93404" y="6476343"/>
            <a:ext cx="2672834" cy="364195"/>
          </a:xfrm>
        </p:spPr>
        <p:txBody>
          <a:bodyPr/>
          <a:lstStyle>
            <a:lvl1pPr>
              <a:defRPr sz="1400" b="1">
                <a:solidFill>
                  <a:srgbClr val="D40032"/>
                </a:solidFill>
              </a:defRPr>
            </a:lvl1pPr>
          </a:lstStyle>
          <a:p>
            <a:fld id="{EE7CC5E5-24C7-41B7-83A8-7F0F7DA65A4E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7733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984911"/>
            <a:ext cx="6013877" cy="4861216"/>
          </a:xfrm>
        </p:spPr>
        <p:txBody>
          <a:bodyPr/>
          <a:lstStyle>
            <a:lvl1pPr>
              <a:defRPr sz="3118"/>
            </a:lvl1pPr>
            <a:lvl2pPr>
              <a:defRPr sz="2728"/>
            </a:lvl2pPr>
            <a:lvl3pPr>
              <a:defRPr sz="2338"/>
            </a:lvl3pPr>
            <a:lvl4pPr>
              <a:defRPr sz="1949"/>
            </a:lvl4pPr>
            <a:lvl5pPr>
              <a:defRPr sz="1949"/>
            </a:lvl5pPr>
            <a:lvl6pPr>
              <a:defRPr sz="1949"/>
            </a:lvl6pPr>
            <a:lvl7pPr>
              <a:defRPr sz="1949"/>
            </a:lvl7pPr>
            <a:lvl8pPr>
              <a:defRPr sz="1949"/>
            </a:lvl8pPr>
            <a:lvl9pPr>
              <a:defRPr sz="1949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2BBAD-85BD-4E54-BEBF-BC3955384C6E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497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984911"/>
            <a:ext cx="6013877" cy="4861216"/>
          </a:xfrm>
        </p:spPr>
        <p:txBody>
          <a:bodyPr anchor="t"/>
          <a:lstStyle>
            <a:lvl1pPr marL="0" indent="0">
              <a:buNone/>
              <a:defRPr sz="3118"/>
            </a:lvl1pPr>
            <a:lvl2pPr marL="445450" indent="0">
              <a:buNone/>
              <a:defRPr sz="2728"/>
            </a:lvl2pPr>
            <a:lvl3pPr marL="890900" indent="0">
              <a:buNone/>
              <a:defRPr sz="2338"/>
            </a:lvl3pPr>
            <a:lvl4pPr marL="1336350" indent="0">
              <a:buNone/>
              <a:defRPr sz="1949"/>
            </a:lvl4pPr>
            <a:lvl5pPr marL="1781800" indent="0">
              <a:buNone/>
              <a:defRPr sz="1949"/>
            </a:lvl5pPr>
            <a:lvl6pPr marL="2227250" indent="0">
              <a:buNone/>
              <a:defRPr sz="1949"/>
            </a:lvl6pPr>
            <a:lvl7pPr marL="2672700" indent="0">
              <a:buNone/>
              <a:defRPr sz="1949"/>
            </a:lvl7pPr>
            <a:lvl8pPr marL="3118150" indent="0">
              <a:buNone/>
              <a:defRPr sz="1949"/>
            </a:lvl8pPr>
            <a:lvl9pPr marL="3563600" indent="0">
              <a:buNone/>
              <a:defRPr sz="1949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1878F-2510-46C2-9ED2-4EF1571CA37E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95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BC70-217C-4487-AA7F-B34715C5834A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010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364195"/>
            <a:ext cx="2561466" cy="579704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364195"/>
            <a:ext cx="7535907" cy="579704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E7BF3-B61C-45C2-AEA2-B70A5FFE8BFB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472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364196"/>
            <a:ext cx="10245864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1820976"/>
            <a:ext cx="10245864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4CAC6-6DDC-4688-97AC-2AF3F03CA6A8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CC5E5-24C7-41B7-83A8-7F0F7DA65A4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3282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890900" rtl="0" eaLnBrk="1" latinLnBrk="0" hangingPunct="1">
        <a:lnSpc>
          <a:spcPct val="90000"/>
        </a:lnSpc>
        <a:spcBef>
          <a:spcPct val="0"/>
        </a:spcBef>
        <a:buNone/>
        <a:defRPr sz="42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2725" indent="-222725" algn="l" defTabSz="890900" rtl="0" eaLnBrk="1" latinLnBrk="0" hangingPunct="1">
        <a:lnSpc>
          <a:spcPct val="90000"/>
        </a:lnSpc>
        <a:spcBef>
          <a:spcPts val="974"/>
        </a:spcBef>
        <a:buFont typeface="Arial" panose="020B0604020202020204" pitchFamily="34" charset="0"/>
        <a:buChar char="•"/>
        <a:defRPr sz="2728" kern="1200">
          <a:solidFill>
            <a:schemeClr val="tx1"/>
          </a:solidFill>
          <a:latin typeface="+mn-lt"/>
          <a:ea typeface="+mn-ea"/>
          <a:cs typeface="+mn-cs"/>
        </a:defRPr>
      </a:lvl1pPr>
      <a:lvl2pPr marL="6681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136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3pPr>
      <a:lvl4pPr marL="15590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20045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4499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8954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3408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7863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1pPr>
      <a:lvl2pPr marL="4454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2pPr>
      <a:lvl3pPr marL="8909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3363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17818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2272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6727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1181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5636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" y="0"/>
            <a:ext cx="12181720" cy="6858000"/>
          </a:xfrm>
          <a:prstGeom prst="rect">
            <a:avLst/>
          </a:prstGeom>
        </p:spPr>
      </p:pic>
      <p:sp>
        <p:nvSpPr>
          <p:cNvPr id="6" name="Заголовок 1"/>
          <p:cNvSpPr>
            <a:spLocks noGrp="1"/>
          </p:cNvSpPr>
          <p:nvPr>
            <p:ph type="ctrTitle"/>
          </p:nvPr>
        </p:nvSpPr>
        <p:spPr>
          <a:xfrm>
            <a:off x="508924" y="5046748"/>
            <a:ext cx="9623367" cy="1130386"/>
          </a:xfrm>
        </p:spPr>
        <p:txBody>
          <a:bodyPr>
            <a:normAutofit/>
          </a:bodyPr>
          <a:lstStyle/>
          <a:p>
            <a:r>
              <a:rPr lang="en-US" sz="1800" dirty="0" err="1"/>
              <a:t>Bizhamal</a:t>
            </a:r>
            <a:r>
              <a:rPr lang="en-US" sz="1800" dirty="0"/>
              <a:t> </a:t>
            </a:r>
            <a:r>
              <a:rPr lang="en-US" sz="1800" dirty="0" err="1"/>
              <a:t>Kozhakhan</a:t>
            </a:r>
            <a:br>
              <a:rPr lang="en-US" sz="1800" dirty="0"/>
            </a:br>
            <a:r>
              <a:rPr lang="en-US" sz="1800" dirty="0"/>
              <a:t>Deep Learning</a:t>
            </a:r>
            <a:br>
              <a:rPr lang="en-US" sz="1800" dirty="0"/>
            </a:br>
            <a:r>
              <a:rPr lang="en-US" sz="1800" dirty="0"/>
              <a:t>Spring 2026</a:t>
            </a:r>
            <a:endParaRPr lang="ru-RU" sz="1800" dirty="0">
              <a:latin typeface="Gotham Pro" panose="02000503040000020004" pitchFamily="50" charset="0"/>
              <a:cs typeface="Gotham Pro" panose="02000503040000020004" pitchFamily="50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90204" y="5261956"/>
            <a:ext cx="11080865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727" y="5449386"/>
            <a:ext cx="1989945" cy="8886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F5AC62-1997-40F2-8297-7A5977475665}"/>
              </a:ext>
            </a:extLst>
          </p:cNvPr>
          <p:cNvSpPr txBox="1"/>
          <p:nvPr/>
        </p:nvSpPr>
        <p:spPr>
          <a:xfrm>
            <a:off x="590204" y="1646211"/>
            <a:ext cx="106499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Fake News Detection using Deep Learning</a:t>
            </a:r>
            <a:endParaRPr lang="kk-KZ" sz="5400" dirty="0"/>
          </a:p>
        </p:txBody>
      </p:sp>
    </p:spTree>
    <p:extLst>
      <p:ext uri="{BB962C8B-B14F-4D97-AF65-F5344CB8AC3E}">
        <p14:creationId xmlns:p14="http://schemas.microsoft.com/office/powerpoint/2010/main" val="283143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68866" y="108203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68866" y="445745"/>
            <a:ext cx="9462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Problem Statement 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8866" y="1712676"/>
            <a:ext cx="91130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400" dirty="0">
                <a:solidFill>
                  <a:schemeClr val="accent2">
                    <a:lumMod val="10000"/>
                  </a:schemeClr>
                </a:solidFill>
              </a:rPr>
              <a:t>• Fake news spreads rapidly online</a:t>
            </a:r>
            <a:br>
              <a:rPr lang="en-US" sz="2400" dirty="0">
                <a:solidFill>
                  <a:schemeClr val="accent2">
                    <a:lumMod val="1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10000"/>
                  </a:schemeClr>
                </a:solidFill>
              </a:rPr>
              <a:t>• Manual verification is difficult</a:t>
            </a:r>
            <a:br>
              <a:rPr lang="en-US" sz="2400" dirty="0">
                <a:solidFill>
                  <a:schemeClr val="accent2">
                    <a:lumMod val="1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10000"/>
                  </a:schemeClr>
                </a:solidFill>
              </a:rPr>
              <a:t>• NLP can help automate detection</a:t>
            </a:r>
            <a:br>
              <a:rPr lang="en-US" sz="2400" dirty="0">
                <a:solidFill>
                  <a:schemeClr val="accent2">
                    <a:lumMod val="1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10000"/>
                  </a:schemeClr>
                </a:solidFill>
              </a:rPr>
              <a:t>• Goal: classify news as Fake or Real</a:t>
            </a:r>
            <a:endParaRPr lang="ru-RU" sz="2400" dirty="0">
              <a:solidFill>
                <a:schemeClr val="accent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589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68866" y="108203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68866" y="445745"/>
            <a:ext cx="9462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Dataset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8866" y="1442655"/>
            <a:ext cx="91130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Dataset: Fake and Real News Dataset</a:t>
            </a: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Source: Kaggle</a:t>
            </a: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almost 20,000 news articles</a:t>
            </a: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Features:</a:t>
            </a: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title</a:t>
            </a: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text</a:t>
            </a: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Labels:</a:t>
            </a: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0 = Fake</a:t>
            </a:r>
            <a:br>
              <a:rPr lang="en-US" sz="2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1 = Real</a:t>
            </a:r>
            <a:endParaRPr lang="ru-RU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53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68866" y="108203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68866" y="445745"/>
            <a:ext cx="9462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Data Preprocessing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8866" y="1863058"/>
            <a:ext cx="43095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Lowercasing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Remove punctuation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Remove URLs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Tokenization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Padding sequences</a:t>
            </a:r>
            <a:endParaRPr lang="ru-RU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0ED30-D5C9-4E3B-9FF3-CCE0CEF71E82}"/>
              </a:ext>
            </a:extLst>
          </p:cNvPr>
          <p:cNvSpPr txBox="1"/>
          <p:nvPr/>
        </p:nvSpPr>
        <p:spPr>
          <a:xfrm>
            <a:off x="5958856" y="1863058"/>
            <a:ext cx="44337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Raw Text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Cleaning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Tokenization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Model Input</a:t>
            </a:r>
            <a:endParaRPr lang="kk-KZ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473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68866" y="108203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68866" y="445745"/>
            <a:ext cx="9462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Models</a:t>
            </a:r>
            <a:endParaRPr lang="ru-RU" sz="3200" dirty="0">
              <a:solidFill>
                <a:schemeClr val="bg1"/>
              </a:solidFill>
            </a:endParaRPr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C05111F6-54E8-4BE9-BB1B-6517B8163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452727"/>
              </p:ext>
            </p:extLst>
          </p:nvPr>
        </p:nvGraphicFramePr>
        <p:xfrm>
          <a:off x="760677" y="1835309"/>
          <a:ext cx="7919510" cy="1584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59755">
                  <a:extLst>
                    <a:ext uri="{9D8B030D-6E8A-4147-A177-3AD203B41FA5}">
                      <a16:colId xmlns:a16="http://schemas.microsoft.com/office/drawing/2014/main" val="15101427"/>
                    </a:ext>
                  </a:extLst>
                </a:gridCol>
                <a:gridCol w="3959755">
                  <a:extLst>
                    <a:ext uri="{9D8B030D-6E8A-4147-A177-3AD203B41FA5}">
                      <a16:colId xmlns:a16="http://schemas.microsoft.com/office/drawing/2014/main" val="2735395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Models</a:t>
                      </a:r>
                      <a:endParaRPr lang="kk-KZ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Purpose</a:t>
                      </a:r>
                      <a:endParaRPr lang="kk-KZ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121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Logistic Regression</a:t>
                      </a:r>
                      <a:endParaRPr lang="kk-KZ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Baseline</a:t>
                      </a:r>
                      <a:endParaRPr lang="kk-KZ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308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LSTM</a:t>
                      </a:r>
                      <a:endParaRPr lang="kk-KZ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Deep Learning</a:t>
                      </a:r>
                      <a:endParaRPr lang="kk-KZ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13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DistilBERT</a:t>
                      </a:r>
                      <a:endParaRPr lang="kk-KZ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Transformer Exploration</a:t>
                      </a:r>
                      <a:endParaRPr lang="kk-KZ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814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631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68866" y="108203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68866" y="445745"/>
            <a:ext cx="9462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Results</a:t>
            </a:r>
            <a:endParaRPr lang="ru-RU" sz="3200" dirty="0">
              <a:solidFill>
                <a:schemeClr val="bg1"/>
              </a:solidFill>
            </a:endParaRPr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C05111F6-54E8-4BE9-BB1B-6517B8163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085904"/>
              </p:ext>
            </p:extLst>
          </p:nvPr>
        </p:nvGraphicFramePr>
        <p:xfrm>
          <a:off x="740357" y="1621949"/>
          <a:ext cx="7919510" cy="1584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59755">
                  <a:extLst>
                    <a:ext uri="{9D8B030D-6E8A-4147-A177-3AD203B41FA5}">
                      <a16:colId xmlns:a16="http://schemas.microsoft.com/office/drawing/2014/main" val="15101427"/>
                    </a:ext>
                  </a:extLst>
                </a:gridCol>
                <a:gridCol w="3959755">
                  <a:extLst>
                    <a:ext uri="{9D8B030D-6E8A-4147-A177-3AD203B41FA5}">
                      <a16:colId xmlns:a16="http://schemas.microsoft.com/office/drawing/2014/main" val="2735395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Model</a:t>
                      </a:r>
                      <a:endParaRPr lang="kk-KZ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Accuracy</a:t>
                      </a:r>
                      <a:endParaRPr lang="kk-KZ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121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Logistic Regression</a:t>
                      </a:r>
                      <a:endParaRPr lang="kk-KZ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k-KZ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98.64%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308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LSTM</a:t>
                      </a:r>
                      <a:endParaRPr lang="kk-KZ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k-KZ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98.06%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13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DistilBERT</a:t>
                      </a:r>
                      <a:endParaRPr lang="kk-KZ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Experimental</a:t>
                      </a:r>
                      <a:endParaRPr lang="kk-KZ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814576"/>
                  </a:ext>
                </a:extLst>
              </a:tr>
            </a:tbl>
          </a:graphicData>
        </a:graphic>
      </p:graphicFrame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E4B6129-9A21-465D-A28E-5B366BB296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321" t="41236" r="45909" b="18167"/>
          <a:stretch/>
        </p:blipFill>
        <p:spPr>
          <a:xfrm>
            <a:off x="740357" y="3525521"/>
            <a:ext cx="3180080" cy="271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806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68866" y="108203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68866" y="445745"/>
            <a:ext cx="9462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Error Analysis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8866" y="1863058"/>
            <a:ext cx="43095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Common failure cases: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Short headlines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Ambiguous wording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Similar vocabulary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Lack of context</a:t>
            </a:r>
            <a:endParaRPr lang="ru-RU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657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68866" y="108203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68866" y="445745"/>
            <a:ext cx="9462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Conclusion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8866" y="1863058"/>
            <a:ext cx="79976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NLP can detect fake news effectively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Baseline model performed very well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LSTM captured contextual information</a:t>
            </a:r>
          </a:p>
          <a:p>
            <a:pPr defTabSz="914400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• Transformers are modern NLP approaches</a:t>
            </a:r>
            <a:endParaRPr lang="ru-RU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881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4275666" y="2712383"/>
            <a:ext cx="41672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Thank You</a:t>
            </a:r>
            <a:endParaRPr lang="ru-RU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6535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2">
      <a:dk1>
        <a:srgbClr val="FFFFFF"/>
      </a:dk1>
      <a:lt1>
        <a:srgbClr val="D50032"/>
      </a:lt1>
      <a:dk2>
        <a:srgbClr val="FFFFFF"/>
      </a:dk2>
      <a:lt2>
        <a:srgbClr val="D50032"/>
      </a:lt2>
      <a:accent1>
        <a:srgbClr val="D50032"/>
      </a:accent1>
      <a:accent2>
        <a:srgbClr val="F2F2F2"/>
      </a:accent2>
      <a:accent3>
        <a:srgbClr val="D8D8D8"/>
      </a:accent3>
      <a:accent4>
        <a:srgbClr val="BFBFBF"/>
      </a:accent4>
      <a:accent5>
        <a:srgbClr val="A5A5A5"/>
      </a:accent5>
      <a:accent6>
        <a:srgbClr val="7F7F7F"/>
      </a:accent6>
      <a:hlink>
        <a:srgbClr val="FFD965"/>
      </a:hlink>
      <a:folHlink>
        <a:srgbClr val="7F7F7F"/>
      </a:folHlink>
    </a:clrScheme>
    <a:fontScheme name="Другая 1">
      <a:majorFont>
        <a:latin typeface="Gotham"/>
        <a:ea typeface=""/>
        <a:cs typeface=""/>
      </a:majorFont>
      <a:minorFont>
        <a:latin typeface="Gotham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675</TotalTime>
  <Words>189</Words>
  <Application>Microsoft Office PowerPoint</Application>
  <PresentationFormat>Произвольный</PresentationFormat>
  <Paragraphs>57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Gotham</vt:lpstr>
      <vt:lpstr>Gotham Pro</vt:lpstr>
      <vt:lpstr>Calibri</vt:lpstr>
      <vt:lpstr>Тема Office</vt:lpstr>
      <vt:lpstr>Bizhamal Kozhakhan Deep Learning Spring 2026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Vika</dc:creator>
  <cp:lastModifiedBy>Lenovo</cp:lastModifiedBy>
  <cp:revision>31</cp:revision>
  <dcterms:created xsi:type="dcterms:W3CDTF">2020-05-06T14:26:17Z</dcterms:created>
  <dcterms:modified xsi:type="dcterms:W3CDTF">2026-05-21T19:29:30Z</dcterms:modified>
</cp:coreProperties>
</file>