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60" r:id="rId1"/>
  </p:sldMasterIdLst>
  <p:notesMasterIdLst>
    <p:notesMasterId r:id="rId12"/>
  </p:notesMasterIdLst>
  <p:sldIdLst>
    <p:sldId id="25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</p:sldIdLst>
  <p:sldSz cx="11879263" cy="6840538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Gotham" panose="020B0604020202020204" charset="0"/>
      <p:regular r:id="rId17"/>
      <p:bold r:id="rId18"/>
      <p:italic r:id="rId19"/>
      <p:boldItalic r:id="rId20"/>
    </p:embeddedFont>
  </p:embeddedFontLst>
  <p:defaultTextStyle>
    <a:defPPr>
      <a:defRPr lang="ru-RU"/>
    </a:defPPr>
    <a:lvl1pPr marL="0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 autoAdjust="0"/>
    <p:restoredTop sz="94660"/>
  </p:normalViewPr>
  <p:slideViewPr>
    <p:cSldViewPr snapToGrid="0">
      <p:cViewPr>
        <p:scale>
          <a:sx n="75" d="100"/>
          <a:sy n="75" d="100"/>
        </p:scale>
        <p:origin x="802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44758-6D80-4509-B1FD-D8EDBB70E5B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49300" y="1143000"/>
            <a:ext cx="5359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88AA9-94DA-4431-918D-4C2FB21FD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402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43201" y="4267200"/>
            <a:ext cx="7528560" cy="75782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50821" y="5110480"/>
            <a:ext cx="6957487" cy="608912"/>
          </a:xfrm>
        </p:spPr>
        <p:txBody>
          <a:bodyPr>
            <a:noAutofit/>
          </a:bodyPr>
          <a:lstStyle>
            <a:lvl1pPr marL="0" indent="0" algn="l">
              <a:buNone/>
              <a:defRPr sz="2000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ru-RU" dirty="0"/>
              <a:t>НАЗВАНИЕ ПОДЗАГОЛОВКА ПРЕЗЕНТАЦИИ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26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5C004-5CD4-4C2F-BE0D-45D3A80F2641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69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862-C489-4421-A959-26B4546E8111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69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770C-0BA8-4BEF-A800-43AD259DBADB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14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8121A-E5FF-4E1B-989F-A951C24D8EF9}" type="datetime1">
              <a:rPr lang="ru-RU" smtClean="0"/>
              <a:t>21.05.2026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01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E3E63-37C4-46D0-9DC6-3287C4280D41}" type="datetime1">
              <a:rPr lang="ru-RU" smtClean="0"/>
              <a:t>21.05.2026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99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572DF-252E-4B22-A0DB-8839B02EB848}" type="datetime1">
              <a:rPr lang="ru-RU" smtClean="0"/>
              <a:t>21.05.2026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93404" y="6476343"/>
            <a:ext cx="2672834" cy="364195"/>
          </a:xfrm>
        </p:spPr>
        <p:txBody>
          <a:bodyPr/>
          <a:lstStyle>
            <a:lvl1pPr>
              <a:defRPr sz="1400" b="1">
                <a:solidFill>
                  <a:srgbClr val="D40032"/>
                </a:solidFill>
              </a:defRPr>
            </a:lvl1pPr>
          </a:lstStyle>
          <a:p>
            <a:fld id="{EE7CC5E5-24C7-41B7-83A8-7F0F7DA65A4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773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2BBAD-85BD-4E54-BEBF-BC3955384C6E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49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878F-2510-46C2-9ED2-4EF1571CA37E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9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BC70-217C-4487-AA7F-B34715C5834A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01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E7BF3-B61C-45C2-AEA2-B70A5FFE8BFB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47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4CAC6-6DDC-4688-97AC-2AF3F03CA6A8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CC5E5-24C7-41B7-83A8-7F0F7DA65A4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328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" y="0"/>
            <a:ext cx="12181720" cy="6858000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ctrTitle"/>
          </p:nvPr>
        </p:nvSpPr>
        <p:spPr>
          <a:xfrm>
            <a:off x="508924" y="5046748"/>
            <a:ext cx="9623367" cy="1130386"/>
          </a:xfrm>
        </p:spPr>
        <p:txBody>
          <a:bodyPr>
            <a:normAutofit/>
          </a:bodyPr>
          <a:lstStyle/>
          <a:p>
            <a:r>
              <a:rPr lang="en-US" sz="1800" dirty="0" err="1"/>
              <a:t>Bizhamal</a:t>
            </a:r>
            <a:r>
              <a:rPr lang="en-US" sz="1800" dirty="0"/>
              <a:t> </a:t>
            </a:r>
            <a:r>
              <a:rPr lang="en-US" sz="1800" dirty="0" err="1"/>
              <a:t>Kozhakhan</a:t>
            </a:r>
            <a:br>
              <a:rPr lang="en-US" sz="1800" dirty="0"/>
            </a:br>
            <a:r>
              <a:rPr lang="en-US" sz="1800" dirty="0"/>
              <a:t>Deep Learning</a:t>
            </a:r>
            <a:br>
              <a:rPr lang="en-US" sz="1800" dirty="0"/>
            </a:br>
            <a:r>
              <a:rPr lang="en-US" sz="1800" dirty="0"/>
              <a:t>Spring 2026</a:t>
            </a:r>
            <a:endParaRPr lang="ru-RU" sz="1800" dirty="0">
              <a:latin typeface="Gotham Pro" panose="02000503040000020004" pitchFamily="50" charset="0"/>
              <a:cs typeface="Gotham Pro" panose="02000503040000020004" pitchFamily="50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90204" y="5261956"/>
            <a:ext cx="1108086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27" y="5449386"/>
            <a:ext cx="1989945" cy="888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F5AC62-1997-40F2-8297-7A5977475665}"/>
              </a:ext>
            </a:extLst>
          </p:cNvPr>
          <p:cNvSpPr txBox="1"/>
          <p:nvPr/>
        </p:nvSpPr>
        <p:spPr>
          <a:xfrm>
            <a:off x="590204" y="1646211"/>
            <a:ext cx="106499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Fake News Detection using Deep Learning</a:t>
            </a:r>
            <a:endParaRPr lang="kk-KZ" sz="5400" dirty="0"/>
          </a:p>
        </p:txBody>
      </p:sp>
    </p:spTree>
    <p:extLst>
      <p:ext uri="{BB962C8B-B14F-4D97-AF65-F5344CB8AC3E}">
        <p14:creationId xmlns:p14="http://schemas.microsoft.com/office/powerpoint/2010/main" val="28314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Problem Statement 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712676"/>
            <a:ext cx="91130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accent2">
                    <a:lumMod val="10000"/>
                  </a:schemeClr>
                </a:solidFill>
              </a:rPr>
              <a:t>• Fake news spreads rapidly online</a:t>
            </a:r>
            <a:br>
              <a:rPr lang="en-US" sz="2400" dirty="0">
                <a:solidFill>
                  <a:schemeClr val="accent2">
                    <a:lumMod val="1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10000"/>
                  </a:schemeClr>
                </a:solidFill>
              </a:rPr>
              <a:t>• Manual verification is difficult</a:t>
            </a:r>
            <a:br>
              <a:rPr lang="en-US" sz="2400" dirty="0">
                <a:solidFill>
                  <a:schemeClr val="accent2">
                    <a:lumMod val="1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10000"/>
                  </a:schemeClr>
                </a:solidFill>
              </a:rPr>
              <a:t>• NLP can help automate detection</a:t>
            </a:r>
            <a:br>
              <a:rPr lang="en-US" sz="2400" dirty="0">
                <a:solidFill>
                  <a:schemeClr val="accent2">
                    <a:lumMod val="1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10000"/>
                  </a:schemeClr>
                </a:solidFill>
              </a:rPr>
              <a:t>• Goal: classify news as Fake or Real</a:t>
            </a:r>
            <a:endParaRPr lang="ru-RU" sz="2400" dirty="0">
              <a:solidFill>
                <a:schemeClr val="accent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58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Dataset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442655"/>
            <a:ext cx="91130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Dataset: Fake and Real News Dataset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Source: Kaggle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almost 20,000 news articles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Features: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title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text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Labels: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0 = Fake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1 = Real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53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Data Preprocessing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863058"/>
            <a:ext cx="430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Lowercasing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Remove punctuation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Remove URLs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Tokenization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Padding sequences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0ED30-D5C9-4E3B-9FF3-CCE0CEF71E82}"/>
              </a:ext>
            </a:extLst>
          </p:cNvPr>
          <p:cNvSpPr txBox="1"/>
          <p:nvPr/>
        </p:nvSpPr>
        <p:spPr>
          <a:xfrm>
            <a:off x="5958856" y="1863058"/>
            <a:ext cx="44337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Raw Text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Cleaning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Tokenization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Model Input</a:t>
            </a:r>
            <a:endParaRPr lang="kk-KZ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47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Models</a:t>
            </a:r>
            <a:endParaRPr lang="ru-RU" sz="32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C05111F6-54E8-4BE9-BB1B-6517B8163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452727"/>
              </p:ext>
            </p:extLst>
          </p:nvPr>
        </p:nvGraphicFramePr>
        <p:xfrm>
          <a:off x="760677" y="1835309"/>
          <a:ext cx="7919510" cy="158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59755">
                  <a:extLst>
                    <a:ext uri="{9D8B030D-6E8A-4147-A177-3AD203B41FA5}">
                      <a16:colId xmlns:a16="http://schemas.microsoft.com/office/drawing/2014/main" val="15101427"/>
                    </a:ext>
                  </a:extLst>
                </a:gridCol>
                <a:gridCol w="3959755">
                  <a:extLst>
                    <a:ext uri="{9D8B030D-6E8A-4147-A177-3AD203B41FA5}">
                      <a16:colId xmlns:a16="http://schemas.microsoft.com/office/drawing/2014/main" val="2735395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Models</a:t>
                      </a:r>
                      <a:endParaRPr lang="kk-K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Purpose</a:t>
                      </a:r>
                      <a:endParaRPr lang="kk-K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121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Logistic Regression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Baseline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0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LSTM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Deep Learning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13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DistilBERT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Transformer Exploration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814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63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  <a:endParaRPr lang="ru-RU" sz="32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C05111F6-54E8-4BE9-BB1B-6517B8163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085904"/>
              </p:ext>
            </p:extLst>
          </p:nvPr>
        </p:nvGraphicFramePr>
        <p:xfrm>
          <a:off x="740357" y="1621949"/>
          <a:ext cx="7919510" cy="158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59755">
                  <a:extLst>
                    <a:ext uri="{9D8B030D-6E8A-4147-A177-3AD203B41FA5}">
                      <a16:colId xmlns:a16="http://schemas.microsoft.com/office/drawing/2014/main" val="15101427"/>
                    </a:ext>
                  </a:extLst>
                </a:gridCol>
                <a:gridCol w="3959755">
                  <a:extLst>
                    <a:ext uri="{9D8B030D-6E8A-4147-A177-3AD203B41FA5}">
                      <a16:colId xmlns:a16="http://schemas.microsoft.com/office/drawing/2014/main" val="2735395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Model</a:t>
                      </a:r>
                      <a:endParaRPr lang="kk-K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Accuracy</a:t>
                      </a:r>
                      <a:endParaRPr lang="kk-K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121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Logistic Regression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k-KZ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98.64%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0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LSTM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k-KZ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98.06%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13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DistilBERT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Experimental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814576"/>
                  </a:ext>
                </a:extLst>
              </a:tr>
            </a:tbl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4B6129-9A21-465D-A28E-5B366BB296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21" t="41236" r="45909" b="18167"/>
          <a:stretch/>
        </p:blipFill>
        <p:spPr>
          <a:xfrm>
            <a:off x="740357" y="3525521"/>
            <a:ext cx="3180080" cy="27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0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Error Analysis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863058"/>
            <a:ext cx="430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Common failure cases: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Short headlines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Ambiguous wording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Similar vocabulary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Lack of context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65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Streamlit</a:t>
            </a:r>
            <a:r>
              <a:rPr lang="en-US" sz="3200" dirty="0">
                <a:solidFill>
                  <a:schemeClr val="bg1"/>
                </a:solidFill>
              </a:rPr>
              <a:t> Application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863058"/>
            <a:ext cx="430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Features: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Enter news article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Click Predict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Receive Fake/Real prediction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839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Conclusion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863058"/>
            <a:ext cx="79976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NLP can detect fake news effectively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Baseline model performed very well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LSTM captured contextual information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Transformers are modern NLP approaches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881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275666" y="2712383"/>
            <a:ext cx="4167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Thank You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6535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">
      <a:dk1>
        <a:srgbClr val="FFFFFF"/>
      </a:dk1>
      <a:lt1>
        <a:srgbClr val="D50032"/>
      </a:lt1>
      <a:dk2>
        <a:srgbClr val="FFFFFF"/>
      </a:dk2>
      <a:lt2>
        <a:srgbClr val="D50032"/>
      </a:lt2>
      <a:accent1>
        <a:srgbClr val="D50032"/>
      </a:accent1>
      <a:accent2>
        <a:srgbClr val="F2F2F2"/>
      </a:accent2>
      <a:accent3>
        <a:srgbClr val="D8D8D8"/>
      </a:accent3>
      <a:accent4>
        <a:srgbClr val="BFBFBF"/>
      </a:accent4>
      <a:accent5>
        <a:srgbClr val="A5A5A5"/>
      </a:accent5>
      <a:accent6>
        <a:srgbClr val="7F7F7F"/>
      </a:accent6>
      <a:hlink>
        <a:srgbClr val="FFD965"/>
      </a:hlink>
      <a:folHlink>
        <a:srgbClr val="7F7F7F"/>
      </a:folHlink>
    </a:clrScheme>
    <a:fontScheme name="Другая 1">
      <a:majorFont>
        <a:latin typeface="Gotham"/>
        <a:ea typeface=""/>
        <a:cs typeface=""/>
      </a:majorFont>
      <a:minorFont>
        <a:latin typeface="Gotham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650</TotalTime>
  <Words>207</Words>
  <Application>Microsoft Office PowerPoint</Application>
  <PresentationFormat>Произвольный</PresentationFormat>
  <Paragraphs>63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Gotham</vt:lpstr>
      <vt:lpstr>Gotham Pro</vt:lpstr>
      <vt:lpstr>Calibri</vt:lpstr>
      <vt:lpstr>Тема Office</vt:lpstr>
      <vt:lpstr>Bizhamal Kozhakhan Deep Learning Spring 2026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Vika</dc:creator>
  <cp:lastModifiedBy>Lenovo</cp:lastModifiedBy>
  <cp:revision>30</cp:revision>
  <dcterms:created xsi:type="dcterms:W3CDTF">2020-05-06T14:26:17Z</dcterms:created>
  <dcterms:modified xsi:type="dcterms:W3CDTF">2026-05-21T19:03:55Z</dcterms:modified>
</cp:coreProperties>
</file>